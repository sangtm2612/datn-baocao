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8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2C3E50"/>
                </a:solidFill>
                <a:latin typeface="Arial"/>
              </a:rPr>
              <a:t>Cơ cấu đối tượng tham gia khảo sát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(%)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Sinh viên/Học sinh</c:v>
                  </c:pt>
                  <c:pt idx="1">
                    <c:v>Nhân viên văn phòng</c:v>
                  </c:pt>
                  <c:pt idx="2">
                    <c:v>Game thủ</c:v>
                  </c:pt>
                  <c:pt idx="3">
                    <c:v>Chuyên gia 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27</c:v>
                </c:pt>
                <c:pt idx="2">
                  <c:v>13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3E50"/>
                </a:solidFill>
                <a:latin typeface="Arial"/>
              </a:rPr>
              <a:t>Độ tuổi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Độ tuổi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Trên 45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65</c:v>
                </c:pt>
                <c:pt idx="1">
                  <c:v>25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D3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3E50"/>
                </a:solidFill>
                <a:latin typeface="Arial"/>
              </a:rPr>
              <a:t>Ngân sách dự kiến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Ngân sách dự kiến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&lt;10tr</c:v>
                  </c:pt>
                  <c:pt idx="1">
                    <c:v>10–20tr</c:v>
                  </c:pt>
                  <c:pt idx="2">
                    <c:v>20–30tr</c:v>
                  </c:pt>
                  <c:pt idx="3">
                    <c:v>&gt;30tr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45</c:v>
                </c:pt>
                <c:pt idx="2">
                  <c:v>23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3E50"/>
                </a:solidFill>
                <a:latin typeface="Arial"/>
              </a:rPr>
              <a:t>Mục đích mua máy tính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Mục đích mua máy tính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Học tập</c:v>
                </c:pt>
                <c:pt idx="1">
                  <c:v>Làm việc</c:v>
                </c:pt>
                <c:pt idx="2">
                  <c:v>Chơi game</c:v>
                </c:pt>
                <c:pt idx="3">
                  <c:v>Đồ họa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18</c:v>
                </c:pt>
                <c:pt idx="3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D3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3E50"/>
                </a:solidFill>
                <a:latin typeface="Arial"/>
              </a:rPr>
              <a:t>Phương thức thanh toán ưu tiên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Phương thức thanh toán ưu tiên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COD</c:v>
                </c:pt>
                <c:pt idx="1">
                  <c:v>Chuyển khoản</c:v>
                </c:pt>
                <c:pt idx="2">
                  <c:v>Ví điện tử</c:v>
                </c:pt>
                <c:pt idx="3">
                  <c:v>Thẻ tín dụng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52</c:v>
                </c:pt>
                <c:pt idx="1">
                  <c:v>28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D3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3E50"/>
                </a:solidFill>
                <a:latin typeface="Arial"/>
              </a:rPr>
              <a:t>Chức năng quan trọng nhất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Chức năng quan trọng nhất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Tìm kiếm, lọc</c:v>
                  </c:pt>
                  <c:pt idx="1">
                    <c:v>So sánh</c:v>
                  </c:pt>
                  <c:pt idx="2">
                    <c:v>Đánh giá</c:v>
                  </c:pt>
                  <c:pt idx="3">
                    <c:v>Tư vấn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3E50"/>
                </a:solidFill>
                <a:latin typeface="Arial"/>
              </a:rPr>
              <a:t>Thời gian giao hàng mong muốn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Thời gian giao hàng mong muốn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Trong ngày</c:v>
                </c:pt>
                <c:pt idx="1">
                  <c:v>1–2 ngày</c:v>
                </c:pt>
                <c:pt idx="2">
                  <c:v>3–5 ngày</c:v>
                </c:pt>
                <c:pt idx="3">
                  <c:v>Trên 5 ngày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15</c:v>
                </c:pt>
                <c:pt idx="1">
                  <c:v>60</c:v>
                </c:pt>
                <c:pt idx="2">
                  <c:v>22</c:v>
                </c:pt>
                <c:pt idx="3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D3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500" b="0" i="0" u="none" strike="noStrike">
                <a:solidFill>
                  <a:srgbClr val="2C3E50"/>
                </a:solidFill>
                <a:latin typeface="Arial"/>
              </a:rPr>
              <a:t>Số bảng theo module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bảng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Catalog &amp; Products</c:v>
                  </c:pt>
                  <c:pt idx="1">
                    <c:v>Build PC System</c:v>
                  </c:pt>
                  <c:pt idx="2">
                    <c:v>Users &amp; Authentication</c:v>
                  </c:pt>
                  <c:pt idx="3">
                    <c:v>Promotions &amp; Vouchers</c:v>
                  </c:pt>
                  <c:pt idx="4">
                    <c:v>Cart &amp; Shopping</c:v>
                  </c:pt>
                  <c:pt idx="5">
                    <c:v>Orders &amp; Payments</c:v>
                  </c:pt>
                  <c:pt idx="6">
                    <c:v>Warranty &amp; Service</c:v>
                  </c:pt>
                  <c:pt idx="7">
                    <c:v>Reviews</c:v>
                  </c:pt>
                  <c:pt idx="8">
                    <c:v>Stores &amp; Locations</c:v>
                  </c:pt>
                  <c:pt idx="9">
                    <c:v>Blog &amp; Content</c:v>
                  </c:pt>
                  <c:pt idx="10">
                    <c:v>Banners &amp; Marketing</c:v>
                  </c:pt>
                  <c:pt idx="11">
                    <c:v>User Interactions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</c:v>
                </c:pt>
                <c:pt idx="1">
                  <c:v>4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  <c:pt idx="5">
                  <c:v>12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3</c:v>
                </c:pt>
                <c:pt idx="10">
                  <c:v>1</c:v>
                </c:pt>
                <c:pt idx="1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quy trình nghiệp vụ chính; mỗi quy trình có sơ đồ swimlane chi tiết ở các slide tiếp theo.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Báo cáo có 8 wireframe: Trang chủ, Chi tiết sản phẩm, Build PC, Admin Dashboard, Danh sách sản phẩm, Giỏ hàng, Thanh toán, Đổi/Trả hàng.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Slide-13-image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chart" Target="/ppt/charts/chart7.xml"/><Relationship Id="rId1" Type="http://schemas.openxmlformats.org/officeDocument/2006/relationships/image" Target="../media/Slide-14-image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Slide-3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image" Target="../media/image-4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image" Target="../media/image-49-2.jpg"/><Relationship Id="rId3" Type="http://schemas.openxmlformats.org/officeDocument/2006/relationships/image" Target="../media/image-4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image" Target="../media/image-50-2.jpg"/><Relationship Id="rId3" Type="http://schemas.openxmlformats.org/officeDocument/2006/relationships/image" Target="../media/image-50-3.jpg"/><Relationship Id="rId4" Type="http://schemas.openxmlformats.org/officeDocument/2006/relationships/image" Target="../media/image-5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image" Target="../media/image-51-2.jpg"/><Relationship Id="rId3" Type="http://schemas.openxmlformats.org/officeDocument/2006/relationships/image" Target="../media/image-5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image" Target="../media/image-52-2.jpg"/><Relationship Id="rId3" Type="http://schemas.openxmlformats.org/officeDocument/2006/relationships/image" Target="../media/image-5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image" Target="../media/image-53-2.jpg"/><Relationship Id="rId3" Type="http://schemas.openxmlformats.org/officeDocument/2006/relationships/image" Target="../media/image-5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143000" cy="13768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685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MỞ HÀ NỘI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KHOA CÔNG NGHỆ THÔNG TIN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LUẬN TỐT NGHIỆP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06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31520" y="3977640"/>
            <a:ext cx="4937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05840" y="4114800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</a:t>
            </a:r>
            <a:endParaRPr lang="en-US" sz="13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ThS. Trịnh Thị Xuân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Ngành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thông tin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397764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1792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thực hiện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4535424"/>
            <a:ext cx="329184" cy="329184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4535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36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44988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Minh Sáng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4498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23C1001K5503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5010912"/>
            <a:ext cx="329184" cy="329184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5010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36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49743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Quang Dũng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326880" y="49743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23C1001K4985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5486400"/>
            <a:ext cx="329184" cy="329184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5486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36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544982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Thị Trang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326880" y="54498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23C1016D5270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 Nội –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2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mở đầu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vấn đề, lý do, mục tiêu và phạm vi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hệ thống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thủ, khảo sát thực tế, người dùng, quy trình, yêu cầu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2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hệ thống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năng, tác nhân, Use Case, Activity Diagram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2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hệ thống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257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CSDL, phân quyền, kiến trúc, lớp, tuần tự, giao diện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4069080"/>
            <a:ext cx="64008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2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và kiểm thử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5257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nghệ, giao diện thực tế, kết quả kiểm thử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4069080"/>
            <a:ext cx="640080" cy="6400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2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257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quả, hạn chế, định hướng tương lai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MỞ ĐẦU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vấn đề, lý do, mục tiêu và phạm vi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63840" y="12344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1234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mở đầu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196596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hệ thống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269748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697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hệ thống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0" y="342900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34290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hệ thống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416052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41605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và kiểm thử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48920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48920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vấn đề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cách mạng công nghiệp 4.0 và sự thay đổi thói quen mua sắm sau COVID-19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618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16,4 tỷ USD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mô TMĐT Việt Nam năm 2022 (VECOM)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1272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Điện tử – công nghệ trong nhóm ngành hàng doanh số cao nhất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6360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 triệu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57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 Internet tại Việt Nam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463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tồn tại của thị trường bán máy tính trực tuyến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201168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74920" y="2240280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7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tính cá nhân hóa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27889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 số website chưa có công cụ tự xây dựng cấu hình máy tính (Build PC).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75320" y="201168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03920" y="2240280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7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chưa tối ưu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27889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phức tạp, quy trình mua hàng dài dòng, thiếu trực quan.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393192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74920" y="4160520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749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7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4114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thông tin minh bạch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47091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sản phẩm, giá, bảo hành chưa rõ ràng, đầy đủ.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75320" y="393192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03920" y="4160520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039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70" dirty="0"/>
          </a:p>
        </p:txBody>
      </p:sp>
      <p:sp>
        <p:nvSpPr>
          <p:cNvPr id="34" name="Text 32"/>
          <p:cNvSpPr txBox="1"/>
          <p:nvPr/>
        </p:nvSpPr>
        <p:spPr>
          <a:xfrm>
            <a:off x="9052560" y="4114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chưa đồng bộ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47091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quản lý tồn kho đa showroom, xử lý đơn và chăm sóc khách hàng.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 chọn đề tài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33472" cy="4480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8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dụng kiến thức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20848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toàn diện lập trình web, cơ sở dữ liệu, phân tích thiết kế hệ thống vào một hệ thống TMĐT hoàn chỉnh.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64992" y="1463040"/>
            <a:ext cx="2633472" cy="4480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1783080"/>
            <a:ext cx="731520" cy="731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9312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8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27432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Thị trường tiềm năng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611880"/>
            <a:ext cx="20848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Hơn 70 triệu người dùng Internet, nhu cầu mua sắm sản phẩm công nghệ trực tuyến rất lớn.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81344" y="1463040"/>
            <a:ext cx="2633472" cy="4480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55664" y="178308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5664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27432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thiết thực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611880"/>
            <a:ext cx="20848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thiện trải nghiệm mua sắm, hỗ trợ doanh nghiệp vận hành; điểm nhấn là tính năng Build PC.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97696" y="1463040"/>
            <a:ext cx="2633472" cy="4480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1783080"/>
            <a:ext cx="731520" cy="7315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72016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8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27432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chuyên nghiệp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272016" y="3611880"/>
            <a:ext cx="20848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đầy đủ vòng đời phần mềm: khảo sát → phân tích → thiết kế → lập trình → kiểm thử → triển khai.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đề tài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tổng quát: </a:t>
            </a:r>
            <a:pPr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bán máy tính trực tuyến đáp ứng các yêu cầu cốt lõi của TMĐT – từ quản lý sản phẩm, xử lý đơn hàng, quản lý khách hàng đến thanh toán trực tuyến – tạo kênh bán hàng hiệu quả và nâng cao trải nghiệm khách hàng.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334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907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64992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sản phẩm với đầy đủ thông tin chi tiết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64992" y="2743200"/>
            <a:ext cx="26334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93592" y="2907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3364992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Giỏ hàng và xử lý đơn hàng tự động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81344" y="2743200"/>
            <a:ext cx="26334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9944" y="2907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3364992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thanh toán trực tuyến an toàn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97696" y="2743200"/>
            <a:ext cx="26334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26296" y="2907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364992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trị cho Admin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26334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45994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056632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thân thiện, responsive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364992" y="4434840"/>
            <a:ext cx="26334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593592" y="45994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MT6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593592" y="5056632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kiếm, lọc sản phẩm nâng cao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81344" y="4434840"/>
            <a:ext cx="26334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09944" y="45994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MT7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409944" y="5056632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và phản hồi sản phẩm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997696" y="4434840"/>
            <a:ext cx="26334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226296" y="45994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MT8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5056632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hiệu suất và bảo mật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nghiên cứu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383280" cy="4754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201168" cy="2011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14813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sử dụng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017520" cy="40233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</a:t>
            </a:r>
            <a:pPr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(Guest, Customer)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</a:t>
            </a:r>
            <a:pPr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(Staff)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viên </a:t>
            </a:r>
            <a:pPr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0" y="1371600"/>
            <a:ext cx="4114800" cy="4754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60020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5152" y="14813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chính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993392"/>
            <a:ext cx="3749040" cy="40233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sản phẩm, danh mục, tồn kho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Giỏ hàng và đơn hàng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 VNPay và COD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PC – tự chọn cấu hình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sản phẩm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Đổi/trả hàng trong 15 ngày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Khuyến mãi và voucher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và thống kê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0" y="1371600"/>
            <a:ext cx="3227832" cy="4754880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41080" y="160020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42832" y="14813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41080" y="2441448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41080" y="2441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ReactJS · TailwindCSS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41080" y="3401568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34015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41080" y="4361688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41080" y="43616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41080" y="5321808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41080" y="53218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VNPay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thực hiện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tuần · 3 thành viên · 103 đầu việc chi tiết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10607040" cy="0"/>
          </a:xfrm>
          <a:prstGeom prst="line">
            <a:avLst/>
          </a:prstGeom>
          <a:noFill/>
          <a:ln w="38100">
            <a:solidFill>
              <a:srgbClr val="A9CC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2788920"/>
            <a:ext cx="365760" cy="36576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1–2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719072" cy="27432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" y="3538728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&amp; phân tích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270248"/>
            <a:ext cx="14996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thủ, khảo sát FPT Shop / Hanoicomputer, Google Form, 35 FR + 7 NFR, Use Case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99816" y="2788920"/>
            <a:ext cx="365760" cy="36576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23160" y="1920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3–4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3429000"/>
            <a:ext cx="1719072" cy="27432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532888" y="3538728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532888" y="4270248"/>
            <a:ext cx="14996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12 module, wireframe Figma, kiến trúc hệ thống, API Swagger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74336" y="2788920"/>
            <a:ext cx="365760" cy="365760"/>
          </a:xfrm>
          <a:prstGeom prst="ellipse">
            <a:avLst/>
          </a:prstGeom>
          <a:solidFill>
            <a:srgbClr val="F39C1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0" y="1920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5–8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3429000"/>
            <a:ext cx="1719072" cy="27432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407408" y="3538728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Backend &amp; Frontend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4270248"/>
            <a:ext cx="14996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+ JWT, các module nghiệp vụ; ReactJS, trang người dùng &amp; Admin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48856" y="2788920"/>
            <a:ext cx="365760" cy="365760"/>
          </a:xfrm>
          <a:prstGeom prst="ellipse">
            <a:avLst/>
          </a:prstGeom>
          <a:solidFill>
            <a:srgbClr val="9B59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1920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9–10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429000"/>
            <a:ext cx="1719072" cy="27432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281928" y="3538728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81928" y="4270248"/>
            <a:ext cx="14996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VNPay sandbox, email, kết nối Frontend – Backend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723376" y="2788920"/>
            <a:ext cx="365760" cy="36576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1920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11–12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0" y="3429000"/>
            <a:ext cx="1719072" cy="27432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156448" y="3538728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&amp; sửa lỗi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156448" y="4270248"/>
            <a:ext cx="14996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Integration, Responsive, Performance, Security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597896" y="2788920"/>
            <a:ext cx="365760" cy="365760"/>
          </a:xfrm>
          <a:prstGeom prst="ellipse">
            <a:avLst/>
          </a:prstGeom>
          <a:solidFill>
            <a:srgbClr val="16A0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21240" y="19202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13–14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921240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921240" y="3429000"/>
            <a:ext cx="1719072" cy="27432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10030968" y="3538728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&amp; báo cáo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0030968" y="4270248"/>
            <a:ext cx="14996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cáo, hướng dẫn sử dụng, video demo, slide bảo vệ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HỆ THỐNG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thủ, khảo sát thực tế, người dùng, quy trình, yêu cầu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63840" y="12344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1234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mở đầu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196596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hệ thống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269748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697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hệ thống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0" y="342900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34290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hệ thống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416052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41605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và kiểm thử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48920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48920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đối thủ cạnh tranh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327148"/>
                <a:gridCol w="2327148"/>
                <a:gridCol w="2327148"/>
                <a:gridCol w="232714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Tiêu chí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Thế Giới Di Động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FPT Shop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CellphoneS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Phong Vũ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Định hướng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Bán hàng đại trà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Dịch vụ tốt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Trải nghiệm người dùng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Chuyên sâu kỹ thuật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dùng chính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Đại trà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Văn phòng, cá nhân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dùng trẻ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 thủ, chuyên gia 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Ưu điểm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Đa dạng sản phẩm, nhiều chi nhánh, giao hàng nhanh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Dịch vụ tốt, bảo hành uy tín, tư vấn chuyên nghiệp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Giao diện đẹp, UX/UI tốt, khuyến mãi hấp dẫn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Thông tin chi tiết, cộng đồng đánh giá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Hạn chế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Giao diện cũ, tốc độ chậm, nhiều pop-up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Giá cao, ít khuyến mãi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đa dạng linh kiện, thiếu cá nhân hóa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Giao diện phức tạp, khó dùng cho người mới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hội của đề tài: </a:t>
            </a:r>
            <a:pPr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hợp ưu điểm và khắc phục nhược điểm của các đối thủ – giao diện hiện đại, tối giản; tích hợp Build PC; thông tin minh bạch; quy trình mua hàng đơn giản.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thực tế tại cửa hàng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Phỏng vấn quản lý và nhân viên tại FPT Shop và Hanoicomputer (Hà Nội)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846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1508760" cy="475488"/>
          </a:xfrm>
          <a:prstGeom prst="roundRect">
            <a:avLst>
              <a:gd name="adj" fmla="val 15385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Shop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15727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Văn Dũng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hệ thống · 3 năm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4846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98648"/>
            <a:ext cx="1508760" cy="475488"/>
          </a:xfrm>
          <a:prstGeom prst="roundRect">
            <a:avLst>
              <a:gd name="adj" fmla="val 15385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89864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Shop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73405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Bùi Văn Sơn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 xử lý đơn hàng · 1 năm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4846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059936"/>
            <a:ext cx="1508760" cy="475488"/>
          </a:xfrm>
          <a:prstGeom prst="roundRect">
            <a:avLst>
              <a:gd name="adj" fmla="val 15385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05993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Hanoicomputer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89534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Văn Cảnh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hệ thống · 6 năm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946904"/>
            <a:ext cx="4846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5221224"/>
            <a:ext cx="1508760" cy="475488"/>
          </a:xfrm>
          <a:prstGeom prst="roundRect">
            <a:avLst>
              <a:gd name="adj" fmla="val 15385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22122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Hanoicomputer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23160" y="505663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Đức Sơn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 bán hàng · 1,5 năm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23560" y="1463040"/>
            <a:ext cx="6016752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2160" y="169164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53912" y="1572768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chung giữa 2 cửa hàng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2084832"/>
            <a:ext cx="5650992" cy="20574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đa showroom là yêu cầu bắt buộc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hóa email và cảnh báo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real-time cho quản lý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nhanh, đơn giản cho nhân viên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kiếm, tra cứu nhanh; thông báo đơn hàng mới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4434840"/>
          <a:ext cx="601675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468880"/>
                <a:gridCol w="2267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Khía cạnh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FPT Shop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Hanoicomputer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Quy mô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Chuỗi lớn, hàng chục chi nhánh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chi nhánh tại Hà Nội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Ưu tiên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lý sản phẩm + tồn kho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lý đơn hàng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Báo cáo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 tiết, phân tích sâu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Cơ bản nhưng đầy đủ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người dùng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Forms · chia sẻ qua nhóm Facebook, email, diễn đàn công nghệ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042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phiếu hợp lệ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154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58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709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13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phần: thông tin chung, nhu cầu, trải nghiệm website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34840" y="1463040"/>
            <a:ext cx="7205472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6" name="Chart 0" descr=""/>
          <p:cNvGraphicFramePr/>
          <p:nvPr/>
        </p:nvGraphicFramePr>
        <p:xfrm>
          <a:off x="4617720" y="160020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khảo sát (1/2) – Chân dung khách hàng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371600"/>
          <a:ext cx="3383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4315968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8" name="Chart 1" descr=""/>
          <p:cNvGraphicFramePr/>
          <p:nvPr/>
        </p:nvGraphicFramePr>
        <p:xfrm>
          <a:off x="4407408" y="1371600"/>
          <a:ext cx="3383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8074152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0" name="Chart 2" descr=""/>
          <p:cNvGraphicFramePr/>
          <p:nvPr/>
        </p:nvGraphicFramePr>
        <p:xfrm>
          <a:off x="8165592" y="1371600"/>
          <a:ext cx="3383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 </a:t>
            </a:r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từng mua máy tính trực tuyến  ·  </a:t>
            </a:r>
            <a:pPr algn="ct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</a:t>
            </a:r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sống ở thành thị  ·  </a:t>
            </a:r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</a:t>
            </a:r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phân khúc 10–20 triệu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khảo sát (2/2) – Nhu cầu và kỳ vọng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371600"/>
          <a:ext cx="3383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4315968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8" name="Chart 1" descr=""/>
          <p:cNvGraphicFramePr/>
          <p:nvPr/>
        </p:nvGraphicFramePr>
        <p:xfrm>
          <a:off x="4407408" y="1371600"/>
          <a:ext cx="3383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8074152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0" name="Chart 2" descr=""/>
          <p:cNvGraphicFramePr/>
          <p:nvPr/>
        </p:nvGraphicFramePr>
        <p:xfrm>
          <a:off x="8165592" y="1371600"/>
          <a:ext cx="3383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 muốn lớn nhất: </a:t>
            </a:r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đẹp, dễ dùng (35%) và thông tin sản phẩm chi tiết (32%)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từ khảo sát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hướng yêu cầu chức năng và phi chức năng cho hệ thống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6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&amp; UX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yếu tố quan trọng nhất với người dùng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508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783080"/>
            <a:ext cx="548640" cy="548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6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23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kiếm, lọc, so sánh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880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 đánh giá cao khi chọn sản phẩm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508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783080"/>
            <a:ext cx="548640" cy="5486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423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chi tiết, giá hợp lý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880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điểm then chốt ra quyết định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6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09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 dạng thanh toán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166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 vẫn được ưu tiên → hỗ trợ COD + VNPay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0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4069080"/>
            <a:ext cx="548640" cy="5486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6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709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hàng nhanh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5166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mong muốn nhận hàng trong 1–2 ngày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46720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4069080"/>
            <a:ext cx="548640" cy="5486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6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709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hành &amp; đánh giá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5166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hưởng lớn tới quyết định mua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nghiệp vụ chính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103120" cy="4754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hàng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86000"/>
            <a:ext cx="310896" cy="310896"/>
          </a:xfrm>
          <a:prstGeom prst="ellipse">
            <a:avLst/>
          </a:prstGeom>
          <a:noFill/>
          <a:ln w="15875">
            <a:solidFill>
              <a:srgbClr val="3498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22128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&amp; chọn sản phẩm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35808"/>
            <a:ext cx="310896" cy="310896"/>
          </a:xfrm>
          <a:prstGeom prst="ellipse">
            <a:avLst/>
          </a:prstGeom>
          <a:noFill/>
          <a:ln w="15875">
            <a:solidFill>
              <a:srgbClr val="3498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296265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vào giỏ hàng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785616"/>
            <a:ext cx="310896" cy="310896"/>
          </a:xfrm>
          <a:prstGeom prst="ellipse">
            <a:avLst/>
          </a:prstGeom>
          <a:noFill/>
          <a:ln w="15875">
            <a:solidFill>
              <a:srgbClr val="3498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37124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nhập, điền thông tin giao hàng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535424"/>
            <a:ext cx="310896" cy="310896"/>
          </a:xfrm>
          <a:prstGeom prst="ellipse">
            <a:avLst/>
          </a:prstGeom>
          <a:noFill/>
          <a:ln w="15875">
            <a:solidFill>
              <a:srgbClr val="3498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446227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COD / VNPay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285232"/>
            <a:ext cx="310896" cy="310896"/>
          </a:xfrm>
          <a:prstGeom prst="ellipse">
            <a:avLst/>
          </a:prstGeom>
          <a:noFill/>
          <a:ln w="15875">
            <a:solidFill>
              <a:srgbClr val="3498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52120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đơn, gửi email xác nhận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2636" y="1371600"/>
            <a:ext cx="2103120" cy="4754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39796" y="15087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39796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đơn hàng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939796" y="2286000"/>
            <a:ext cx="310896" cy="310896"/>
          </a:xfrm>
          <a:prstGeom prst="ellipse">
            <a:avLst/>
          </a:prstGeom>
          <a:noFill/>
          <a:ln w="15875">
            <a:solidFill>
              <a:srgbClr val="27AE6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314700" y="22128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 đơn mới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35808"/>
            <a:ext cx="310896" cy="310896"/>
          </a:xfrm>
          <a:prstGeom prst="ellipse">
            <a:avLst/>
          </a:prstGeom>
          <a:noFill/>
          <a:ln w="15875">
            <a:solidFill>
              <a:srgbClr val="27AE6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314700" y="296265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đơn &amp; tồn kho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939796" y="3785616"/>
            <a:ext cx="310896" cy="310896"/>
          </a:xfrm>
          <a:prstGeom prst="ellipse">
            <a:avLst/>
          </a:prstGeom>
          <a:noFill/>
          <a:ln w="15875">
            <a:solidFill>
              <a:srgbClr val="27AE6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314700" y="37124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(email tự động)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939796" y="4535424"/>
            <a:ext cx="310896" cy="310896"/>
          </a:xfrm>
          <a:prstGeom prst="ellipse">
            <a:avLst/>
          </a:prstGeom>
          <a:noFill/>
          <a:ln w="15875">
            <a:solidFill>
              <a:srgbClr val="27AE6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314700" y="446227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gói, giao vận chuyển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939796" y="5285232"/>
            <a:ext cx="310896" cy="310896"/>
          </a:xfrm>
          <a:prstGeom prst="ellipse">
            <a:avLst/>
          </a:prstGeom>
          <a:noFill/>
          <a:ln w="15875">
            <a:solidFill>
              <a:srgbClr val="27AE6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314700" y="52120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tất, cập nhật tồn kho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56632" y="1371600"/>
            <a:ext cx="2103120" cy="4754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93792" y="15087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93792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PC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193792" y="2286000"/>
            <a:ext cx="310896" cy="310896"/>
          </a:xfrm>
          <a:prstGeom prst="ellipse">
            <a:avLst/>
          </a:prstGeom>
          <a:noFill/>
          <a:ln w="15875">
            <a:solidFill>
              <a:srgbClr val="F39C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568696" y="22128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showroom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193792" y="3035808"/>
            <a:ext cx="310896" cy="310896"/>
          </a:xfrm>
          <a:prstGeom prst="ellipse">
            <a:avLst/>
          </a:prstGeom>
          <a:noFill/>
          <a:ln w="15875">
            <a:solidFill>
              <a:srgbClr val="F39C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568696" y="296265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CPU → lọc Mainboard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193792" y="3785616"/>
            <a:ext cx="310896" cy="310896"/>
          </a:xfrm>
          <a:prstGeom prst="ellipse">
            <a:avLst/>
          </a:prstGeom>
          <a:noFill/>
          <a:ln w="15875">
            <a:solidFill>
              <a:srgbClr val="F39C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568696" y="37124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RAM, SSD, VGA, PSU, Case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193792" y="4535424"/>
            <a:ext cx="310896" cy="310896"/>
          </a:xfrm>
          <a:prstGeom prst="ellipse">
            <a:avLst/>
          </a:prstGeom>
          <a:noFill/>
          <a:ln w="15875">
            <a:solidFill>
              <a:srgbClr val="F39C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568696" y="446227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tương thích, tính giá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193792" y="5285232"/>
            <a:ext cx="310896" cy="310896"/>
          </a:xfrm>
          <a:prstGeom prst="ellipse">
            <a:avLst/>
          </a:prstGeom>
          <a:noFill/>
          <a:ln w="15875">
            <a:solidFill>
              <a:srgbClr val="F39C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568696" y="52120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KM, lưu / thêm giỏ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310628" y="1371600"/>
            <a:ext cx="2103120" cy="4754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47788" y="15087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47788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Đổi/trả 15 ngày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7447788" y="2286000"/>
            <a:ext cx="310896" cy="310896"/>
          </a:xfrm>
          <a:prstGeom prst="ellipse">
            <a:avLst/>
          </a:prstGeom>
          <a:noFill/>
          <a:ln w="15875">
            <a:solidFill>
              <a:srgbClr val="E74C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822692" y="22128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yêu cầu + ảnh/video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7447788" y="3035808"/>
            <a:ext cx="310896" cy="310896"/>
          </a:xfrm>
          <a:prstGeom prst="ellipse">
            <a:avLst/>
          </a:prstGeom>
          <a:noFill/>
          <a:ln w="15875">
            <a:solidFill>
              <a:srgbClr val="E74C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822692" y="296265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thời hạn 15 ngày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447788" y="3785616"/>
            <a:ext cx="310896" cy="310896"/>
          </a:xfrm>
          <a:prstGeom prst="ellipse">
            <a:avLst/>
          </a:prstGeom>
          <a:noFill/>
          <a:ln w="15875">
            <a:solidFill>
              <a:srgbClr val="E74C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822692" y="37124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xem xét trong 24h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7447788" y="4535424"/>
            <a:ext cx="310896" cy="310896"/>
          </a:xfrm>
          <a:prstGeom prst="ellipse">
            <a:avLst/>
          </a:prstGeom>
          <a:noFill/>
          <a:ln w="15875">
            <a:solidFill>
              <a:srgbClr val="E74C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822692" y="446227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hàng trả về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447788" y="5285232"/>
            <a:ext cx="310896" cy="310896"/>
          </a:xfrm>
          <a:prstGeom prst="ellipse">
            <a:avLst/>
          </a:prstGeom>
          <a:noFill/>
          <a:ln w="15875">
            <a:solidFill>
              <a:srgbClr val="E74C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7822692" y="52120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mới hoặc hoàn tiền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564624" y="1371600"/>
            <a:ext cx="2103120" cy="4754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701784" y="15087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701784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sản phẩm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9701784" y="2286000"/>
            <a:ext cx="310896" cy="310896"/>
          </a:xfrm>
          <a:prstGeom prst="ellipse">
            <a:avLst/>
          </a:prstGeom>
          <a:noFill/>
          <a:ln w="15875">
            <a:solidFill>
              <a:srgbClr val="9B59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076688" y="22128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/ sửa / xóa sản phẩm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9701784" y="3035808"/>
            <a:ext cx="310896" cy="310896"/>
          </a:xfrm>
          <a:prstGeom prst="ellipse">
            <a:avLst/>
          </a:prstGeom>
          <a:noFill/>
          <a:ln w="15875">
            <a:solidFill>
              <a:srgbClr val="9B59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076688" y="296265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giá hàng loạt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9701784" y="3785616"/>
            <a:ext cx="310896" cy="310896"/>
          </a:xfrm>
          <a:prstGeom prst="ellipse">
            <a:avLst/>
          </a:prstGeom>
          <a:noFill/>
          <a:ln w="15875">
            <a:solidFill>
              <a:srgbClr val="9B59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076688" y="37124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Nhập, xuất, chuyển kho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9701784" y="4535424"/>
            <a:ext cx="310896" cy="310896"/>
          </a:xfrm>
          <a:prstGeom prst="ellipse">
            <a:avLst/>
          </a:prstGeom>
          <a:noFill/>
          <a:ln w="15875">
            <a:solidFill>
              <a:srgbClr val="9B59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076688" y="446227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kê tồn kho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701784" y="5285232"/>
            <a:ext cx="310896" cy="310896"/>
          </a:xfrm>
          <a:prstGeom prst="ellipse">
            <a:avLst/>
          </a:prstGeom>
          <a:noFill/>
          <a:ln w="15875">
            <a:solidFill>
              <a:srgbClr val="9B59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076688" y="52120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Cảnh báo sắp hết hàng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quy trình: Đặt hàng của khách hàng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25661" y="1097280"/>
            <a:ext cx="5737631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389" y="1207008"/>
            <a:ext cx="5518175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tìm kiếm sản phẩm đến hoàn tất đặt hàng và nhận email xác nhận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quy trình: Xử lý đơn hàng (Admin/Staff)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47318" y="1097280"/>
            <a:ext cx="5294315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46" y="1207008"/>
            <a:ext cx="5074859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khi nhận đơn đến khi giao hàng thành công và cập nhật tồn kho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quy trình: Build PC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064251" y="1097280"/>
            <a:ext cx="4060450" cy="498348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979" y="1207008"/>
            <a:ext cx="3840994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tự chọn linh kiện – hệ thống kiểm tra tương thích, tính giá và khuyến mãi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quy trình: Đổi/trả hàng trong 15 ngày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99170" y="1097280"/>
            <a:ext cx="5190611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898" y="1207008"/>
            <a:ext cx="4971155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yêu cầu đổi/trả trong vòng 15 ngày kể từ ngày nhận hàng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quy trình: Quản lý sản phẩm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5207"/>
            <a:ext cx="11091672" cy="3707625"/>
          </a:xfrm>
          <a:prstGeom prst="roundRect">
            <a:avLst>
              <a:gd name="adj" fmla="val 29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44935"/>
            <a:ext cx="10872216" cy="34881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mới, cập nhật giá, quản lý tồn kho và cảnh báo sắp hết hàng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chức năng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yêu cầu chức năng (FR) chia theo đối tượng sử dụng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35508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45920"/>
            <a:ext cx="201168" cy="2011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152704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· FR1 – FR22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39112"/>
            <a:ext cx="5989320" cy="39776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khoản: </a:t>
            </a:r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ký, đăng nhập, thông tin cá nhân, địa chỉ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phẩm: </a:t>
            </a:r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kiếm, lọc, xem chi tiết, lịch sử đã xem, wishlist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hàng: </a:t>
            </a:r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giỏ hàng, voucher, khuyến mãi tự động, đặt hàng, thanh toán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bán: </a:t>
            </a:r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đơn, lịch sử mua, đánh giá, đổi/trả, hóa đơn PDF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PC: </a:t>
            </a:r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chọn cấu hình, lưu và quản lý cấu hình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Khác: </a:t>
            </a:r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góp 0%, showroom &amp; bản đồ, đăng ký nhận tin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86600" y="1417320"/>
            <a:ext cx="4553712" cy="47091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0" y="164592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16952" y="1527048"/>
            <a:ext cx="3867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FR23 – FR35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039112"/>
            <a:ext cx="4187952" cy="39776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danh mục, sản phẩm, tồn kho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đơn hàng, khách hàng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 và chương trình khuyến mãi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Banner, tin tức, blog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doanh thu, sản phẩm bán chạy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toán, vận chuyển, trả góp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giá, bảo hành, showroom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phi chức năng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yêu cầu phi chức năng (NFR)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suất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8716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Tải trang ≤ 3s · API &lt; 500ms · ≥ 100 người dùng đồng thời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93592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0116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48716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· HTTPS · JWT · chống SQL Injection, XSS, CSRF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9944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0116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năng mở rộng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48716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Layered, mở rộng từng tầng độc lập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97696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26296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20116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khả dụng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48716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24/7, backup dữ liệu hằng ngày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56816" y="384048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185416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185416" y="43891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Tương thích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185416" y="486460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Chrome, Firefox, Safari, Edge · responsive mọi thiết bị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384048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001768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01768" y="43891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năng sử dụng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001768" y="486460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trực quan, tiếng Việt, có hướng dẫn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384048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81812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43891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năng bảo trì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818120" y="486460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code, tài liệu đầy đủ, quản lý phiên bản Git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tính năng đặc biệt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33472" cy="219456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PC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xây dựng cấu hình, kiểm tra tương thích tự động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1371600"/>
            <a:ext cx="26334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160020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2402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Wishlist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6974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sản phẩm yêu thích, báo khi giảm giá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81344" y="1371600"/>
            <a:ext cx="26334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9944" y="160020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994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2402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đã xem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6974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đa 20 sản phẩm gần nhất, kể cả khi chưa đăng nhập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97696" y="1371600"/>
            <a:ext cx="26334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26296" y="1600200"/>
            <a:ext cx="502920" cy="5029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2629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22402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Showroom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26974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showroom, Google Maps, tồn kho theo từng showroom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6334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3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663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góp 0%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120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từ 3 triệu, kỳ hạn 6–24 tháng qua đối tác tài chính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64992" y="3794760"/>
            <a:ext cx="26334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93592" y="4023360"/>
            <a:ext cx="502920" cy="50292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93592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30" dirty="0"/>
          </a:p>
        </p:txBody>
      </p:sp>
      <p:sp>
        <p:nvSpPr>
          <p:cNvPr id="33" name="Text 31"/>
          <p:cNvSpPr txBox="1"/>
          <p:nvPr/>
        </p:nvSpPr>
        <p:spPr>
          <a:xfrm>
            <a:off x="3593592" y="4663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Đổi/trả 15 ngày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3593592" y="5120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online, upload ảnh/video, xử lý trong 24h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81344" y="3794760"/>
            <a:ext cx="26334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9944" y="4023360"/>
            <a:ext cx="502920" cy="50292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994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30" dirty="0"/>
          </a:p>
        </p:txBody>
      </p:sp>
      <p:sp>
        <p:nvSpPr>
          <p:cNvPr id="38" name="Text 36"/>
          <p:cNvSpPr txBox="1"/>
          <p:nvPr/>
        </p:nvSpPr>
        <p:spPr>
          <a:xfrm>
            <a:off x="6409944" y="4663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Hóa đơn điện tử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6409944" y="5120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Xuất hóa đơn GTGT, tải PDF, gửi qua email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997696" y="3794760"/>
            <a:ext cx="26334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26296" y="402336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2629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30" dirty="0"/>
          </a:p>
        </p:txBody>
      </p:sp>
      <p:sp>
        <p:nvSpPr>
          <p:cNvPr id="43" name="Text 41"/>
          <p:cNvSpPr txBox="1"/>
          <p:nvPr/>
        </p:nvSpPr>
        <p:spPr>
          <a:xfrm>
            <a:off x="9226296" y="4663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tin khuyến mãi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226296" y="5120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tự động: khuyến mãi, sản phẩm mới, sinh nhật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nhấn: Build PC – Tự xây dựng cấu hình máy tính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206240" cy="48463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417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linh kiện có thể chọn: CPU, Mainboard, RAM, SSD, VGA, PSU, Case, tản nhiệt, màn hình, phụ kiện…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3886200" cy="35661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tương thích </a:t>
            </a:r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(socket CPU – Mainboard)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tổng giá </a:t>
            </a:r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thời gian thực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Khuyến mãi: </a:t>
            </a:r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đến 50% CPU khi mua đủ bộ kèm VGA mạnh; đến 30% khi không kèm VGA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kho </a:t>
            </a:r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từng showroom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cấu hình, </a:t>
            </a:r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xuất Excel, tải ảnh PNG, in cấu hình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83480" y="1490510"/>
            <a:ext cx="6656832" cy="4425621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home/claude/img/8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600238"/>
            <a:ext cx="6437376" cy="42061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HỆ THỐNG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năng, tác nhân, Use Case, Activity Diagram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63840" y="12344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1234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mở đầu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196596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hệ thống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269748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697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hệ thống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0" y="342900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34290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hệ thống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416052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41605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và kiểm thử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48920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48920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hóa chức năng nghiệp vụ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được gom thành 7 nhóm chức năng chính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sản phẩm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8716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mục, thông tin, hình ảnh, tồn kho, giá &amp; khuyến mãi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93592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0116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người dùng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48716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ký/đăng nhập, thông tin cá nhân, địa chỉ, mật khẩu, phân quyền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9944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0116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Giỏ hàng, đơn hàng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48716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giỏ, mã giảm giá, tạo / xác nhận / theo dõi / hủy đơn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97696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26296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20116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thanh toán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48716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phương thức, xử lý trực tuyến, xác nhận, hoàn tiền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56816" y="384048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185416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185416" y="43891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&amp; phản hồi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185416" y="486460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giá, bình luận, phản hồi khách hàng, quản lý đánh giá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384048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001768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01768" y="43891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&amp; lọc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001768" y="486460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kiếm, lọc theo danh mục, giá, thương hiệu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3840480"/>
            <a:ext cx="26334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81812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43891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&amp; thống kê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818120" y="4864608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thu, sản phẩm bán chạy, khách hàng, tồn kho,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 nhân và sơ đồ Use Case tổng quan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480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320040" cy="320040"/>
          </a:xfrm>
          <a:prstGeom prst="ellipse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280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Xem, tìm kiếm, lọc sản phẩm; xem blog, showroom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4480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96312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2677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hàng, thanh toán, đánh giá, wishlist, Build PC, đổi/trả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4480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483864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25526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&amp; cập nhật đơn hàng, hỗ trợ khách hàng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197096"/>
            <a:ext cx="4480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471416"/>
            <a:ext cx="320040" cy="3200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424281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quyền quản trị: sản phẩm, đơn hàng, khuyến mãi, báo cáo…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184648"/>
            <a:ext cx="4480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458968"/>
            <a:ext cx="320040" cy="3200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88720" y="52303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và xác nhận giao dịch trực tuyến (VNPay)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257800" y="1755043"/>
            <a:ext cx="6382512" cy="3850833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/home/claude/img/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1864771"/>
            <a:ext cx="6163056" cy="36313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chi tiết (1/3)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76875" y="1143000"/>
            <a:ext cx="3384210" cy="4572000"/>
          </a:xfrm>
          <a:prstGeom prst="roundRect">
            <a:avLst>
              <a:gd name="adj" fmla="val 3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603" y="1252728"/>
            <a:ext cx="3164754" cy="43525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247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sản phẩm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15947" y="1143000"/>
            <a:ext cx="4208050" cy="457200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675" y="1252728"/>
            <a:ext cx="3988594" cy="43525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58247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đơn hàng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chi tiết (2/3)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20993" y="1143000"/>
            <a:ext cx="4495973" cy="4572000"/>
          </a:xfrm>
          <a:prstGeom prst="roundRect">
            <a:avLst>
              <a:gd name="adj" fmla="val 24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3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21" y="1252728"/>
            <a:ext cx="4276517" cy="43525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247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người dùng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9632" y="2486156"/>
            <a:ext cx="5440680" cy="1885689"/>
          </a:xfrm>
          <a:prstGeom prst="roundRect">
            <a:avLst>
              <a:gd name="adj" fmla="val 58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595884"/>
            <a:ext cx="5221224" cy="166623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58247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chi tiết (3/3)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84167"/>
            <a:ext cx="3566160" cy="4089667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93895"/>
            <a:ext cx="3346704" cy="38702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62033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và phản hồi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11396" y="2128917"/>
            <a:ext cx="3566160" cy="2600165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3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2238645"/>
            <a:ext cx="3346704" cy="238070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11396" y="5662033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và lọc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74152" y="1305695"/>
            <a:ext cx="3566160" cy="424661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/home/claude/img/3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415423"/>
            <a:ext cx="3346704" cy="40271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74152" y="5662033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và thống kê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hoạt động (Activity Diagram)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sơ đồ hoạt động mô tả luồng xử lý và các điểm quyết định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92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64992" y="1508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47872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1892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hàng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1344" y="1508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64224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1892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97696" y="1508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80576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1892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quản lý đơn hàng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651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035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Đổi/trả hàng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64992" y="2651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547872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3035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sản phẩm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81344" y="2651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64224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364224" y="3035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sản phẩm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97696" y="2651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80576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180576" y="3035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 VNPay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31520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4178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voucher &amp; khuyến mãi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64992" y="3794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547872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547872" y="4178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và lọc sản phẩm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81344" y="3794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364224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2.2.11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4178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Quên mật khẩu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997696" y="3794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180576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2.2.12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180576" y="4178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đơn hàng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4937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731520" y="5029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2.2.13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5321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tài khoản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364992" y="4937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3547872" y="5029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2.2.14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3547872" y="5321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kho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181344" y="4937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6364224" y="5029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2.2.15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364224" y="5321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hành sản phẩm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997696" y="4937760"/>
            <a:ext cx="26334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9180576" y="5029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2.2.16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180576" y="53218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và quản lý Blog/Tin tức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Diagram: Đăng nhập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72971" y="1097280"/>
            <a:ext cx="804301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699" y="1207008"/>
            <a:ext cx="7823554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người dùng, cấp JWT token và xử lý các nhánh lỗi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Diagram: Admin quản lý đơn hàng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024247" y="1097280"/>
            <a:ext cx="6140457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975" y="1207008"/>
            <a:ext cx="5921001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Admin/Staff tiếp nhận, xác nhận và cập nhật trạng thái đơn hàng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Diagram: Thanh toán VNPay &amp; Tìm kiếm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89378" y="1143000"/>
            <a:ext cx="2959205" cy="4572000"/>
          </a:xfrm>
          <a:prstGeom prst="roundRect">
            <a:avLst>
              <a:gd name="adj" fmla="val 37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106" y="1252728"/>
            <a:ext cx="2739749" cy="43525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247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 VNPay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73706" y="1143000"/>
            <a:ext cx="3292533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34" y="1252728"/>
            <a:ext cx="3073077" cy="43525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58247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và lọc sản phẩm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Diagram: Quản lý voucher &amp; khuyến mãi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80682" y="1097280"/>
            <a:ext cx="5227587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410" y="1207008"/>
            <a:ext cx="5008131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Tạo, cấu hình điều kiện và áp dụng voucher / chương trình khuyến mãi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HỆ THỐNG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CSDL, phân quyền, kiến trúc, lớp, tuần tự, giao diện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63840" y="12344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1234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mở đầu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196596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hệ thống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269748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697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hệ thống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0" y="342900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34290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hệ thống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416052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41605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và kiểm thử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48920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48920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cơ sở dữ liệu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52 bảng chia thành 12 module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9494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685800" y="1463040"/>
          <a:ext cx="6675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7726680" y="1371600"/>
            <a:ext cx="391363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01000" y="1508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dữ liệu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26680" y="3017520"/>
            <a:ext cx="391363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01000" y="3154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886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nghiệp vụ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26680" y="4663440"/>
            <a:ext cx="391363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001000" y="4800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5532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– module lớn nhất: Orders &amp; Payments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module tiêu biểu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8284" y="1143000"/>
            <a:ext cx="5041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12" y="1252728"/>
            <a:ext cx="4821936" cy="43525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247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Catalog &amp; Products (8 bảng)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9632" y="1362551"/>
            <a:ext cx="5440680" cy="4132897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4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72279"/>
            <a:ext cx="5221224" cy="391344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58247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Build PC System (4 bảng)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kiểm soát – Ma trận phân quyền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71800"/>
                <a:gridCol w="777240"/>
                <a:gridCol w="1143000"/>
                <a:gridCol w="777240"/>
                <a:gridCol w="777240"/>
              </a:tblGrid>
              <a:tr h="3703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Nhóm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Chức năng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Sản phẩm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Xem, tìm kiếm &amp; lọc sản phẩm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Sản phẩm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Thêm/sửa/xóa sản phẩm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Sản phẩm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lý tồn kho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Đơn hàng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Đặt hàng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Đơn hàng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Xem tất cả đơn, cập nhật trạng thái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Đánh giá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Viết đánh giá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Đánh giá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Duyệt/xóa đánh giá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PC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Tạo &amp; lưu cấu hình riêng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Bảo hành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Xem/xử lý yêu cầu bảo hành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Khuyến mãi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Tạo/quản lý khuyến mãi, voucher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trị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Dashboard, báo cáo &amp; thống kê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trị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lý người dùng, cài đặt hệ thống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1234440"/>
            <a:ext cx="3182112" cy="48463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0" y="1463040"/>
            <a:ext cx="201168" cy="201168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88552" y="1344168"/>
            <a:ext cx="2496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định vai trò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1856232"/>
            <a:ext cx="2816352" cy="4114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Guest: </a:t>
            </a:r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chưa đăng nhập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</a:t>
            </a:r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đã đăng ký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Staff: </a:t>
            </a:r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đơn hàng, bảo hành, hỗ trợ khách hàng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</a:t>
            </a:r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quyền quản trị hệ thống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074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quyền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</a:t>
            </a:r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xem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</a:t>
            </a:r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quyền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 – Layered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1750" y="1188720"/>
            <a:ext cx="4028660" cy="4937760"/>
          </a:xfrm>
          <a:prstGeom prst="roundRect">
            <a:avLst>
              <a:gd name="adj" fmla="val 2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6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78" y="1298448"/>
            <a:ext cx="3809204" cy="47183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234440"/>
            <a:ext cx="606247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0" y="13716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28016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ReactJS – UI Components, Pages, Redux/Context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77840" y="2212848"/>
            <a:ext cx="606247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0" y="23500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1500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258568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REST Controllers · JSON qua HTTP/HTTPS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577840" y="3191256"/>
            <a:ext cx="606247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15000" y="332841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1500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236976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Layer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– xử lý nghiệp vụ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577840" y="4169664"/>
            <a:ext cx="606247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15000" y="4306824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715000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4215384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 Layer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 Repositories · JDBC/JPA (Hibernate)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577840" y="5148072"/>
            <a:ext cx="606247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15000" y="5285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715000" y="5285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446520" y="519379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 tổng quan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154119" y="1097280"/>
            <a:ext cx="5880714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6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847" y="1207008"/>
            <a:ext cx="5661258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entity chính và quan hệ giữa chúng (dựa trên entity thực tế của backend)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 (1/2)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75278"/>
            <a:ext cx="5440680" cy="4307445"/>
          </a:xfrm>
          <a:prstGeom prst="roundRect">
            <a:avLst>
              <a:gd name="adj" fmla="val 25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6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85006"/>
            <a:ext cx="5221224" cy="408798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9245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đặt hàng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9632" y="1344960"/>
            <a:ext cx="5440680" cy="4168081"/>
          </a:xfrm>
          <a:prstGeom prst="roundRect">
            <a:avLst>
              <a:gd name="adj" fmla="val 26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6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54688"/>
            <a:ext cx="5221224" cy="39486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569245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thanh toán VNPay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 (2/2)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64606"/>
            <a:ext cx="5440680" cy="4128788"/>
          </a:xfrm>
          <a:prstGeom prst="roundRect">
            <a:avLst>
              <a:gd name="adj" fmla="val 26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6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74334"/>
            <a:ext cx="5221224" cy="39093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0312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Build PC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9632" y="1936037"/>
            <a:ext cx="5440680" cy="2985925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45765"/>
            <a:ext cx="5221224" cy="27664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560312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hủy đơn hàng (hoàn lại tồn kho)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giao diện – Wireframe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tắc: </a:t>
            </a:r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giản, trực quan · nhất quán · tải nhanh (tối ưu ảnh, lazy loading)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47747"/>
            <a:ext cx="3566160" cy="2311146"/>
          </a:xfrm>
          <a:prstGeom prst="roundRect">
            <a:avLst>
              <a:gd name="adj" fmla="val 47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img/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57475"/>
            <a:ext cx="3346704" cy="20916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897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11396" y="2378088"/>
            <a:ext cx="3566160" cy="2650465"/>
          </a:xfrm>
          <a:prstGeom prst="roundRect">
            <a:avLst>
              <a:gd name="adj" fmla="val 41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home/claude/img/6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2487816"/>
            <a:ext cx="3346704" cy="243100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11396" y="5897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Giỏ hàng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74152" y="2013204"/>
            <a:ext cx="3566160" cy="3380232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/home/claude/img/6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122932"/>
            <a:ext cx="3346704" cy="31607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74152" y="5897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Đổi/Trả hàng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VÀ KIỂM THỬ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nghệ, giao diện thực tế, kết quả kiểm thử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63840" y="12344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1234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mở đầu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196596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hệ thống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269748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697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hệ thống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0" y="342900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34290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hệ thống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416052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41605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và kiểm thử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48920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48920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33472" cy="47548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860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ReactJS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17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/ CSS3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749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TailwindCSS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4805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21208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2120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Paginate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64992" y="1371600"/>
            <a:ext cx="2633472" cy="47548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47872" y="15544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3639312" y="228600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39312" y="22860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39312" y="301752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9312" y="3017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MVC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39312" y="374904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39312" y="3749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39312" y="448056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39312" y="44805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639312" y="521208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39312" y="52120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81344" y="1371600"/>
            <a:ext cx="2633472" cy="47548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364224" y="15544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&amp; Tích hợp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6455664" y="228600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55664" y="22860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55664" y="301752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55664" y="3017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VNPay Gateway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55664" y="374904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55664" y="3749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JavaMail (SMTP)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55664" y="448056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55664" y="44805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Google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55664" y="521208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55664" y="52120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/ OpenAPI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997696" y="1371600"/>
            <a:ext cx="2633472" cy="47548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9180576" y="15544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9272016" y="228600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72016" y="22860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GitHub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272016" y="301752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72016" y="3017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/ Gradle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9272016" y="374904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72016" y="3749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9272016" y="448056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72016" y="44805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9272016" y="5212080"/>
            <a:ext cx="2084832" cy="548640"/>
          </a:xfrm>
          <a:prstGeom prst="roundRect">
            <a:avLst>
              <a:gd name="adj" fmla="val 13333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72016" y="52120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· JMeter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Trang chủ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93258" y="1097280"/>
            <a:ext cx="9802435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7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986" y="1207008"/>
            <a:ext cx="9582979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banner slideshow, danh mục nổi bật, sản phẩm bán chạy / mới về – responsive, lazy loading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Sản phẩm và giỏ hàng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22809"/>
            <a:ext cx="5440680" cy="2812383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7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32537"/>
            <a:ext cx="5221224" cy="25929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944919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sản phẩm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9632" y="2022809"/>
            <a:ext cx="5440680" cy="2812383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7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32537"/>
            <a:ext cx="5221224" cy="25929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4944919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Giỏ hàng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Thanh toán với VNPay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77100"/>
            <a:ext cx="3566160" cy="3503799"/>
          </a:xfrm>
          <a:prstGeom prst="roundRect">
            <a:avLst>
              <a:gd name="adj" fmla="val 31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7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86828"/>
            <a:ext cx="3346704" cy="32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309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Trang thanh toán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11396" y="1967515"/>
            <a:ext cx="3566160" cy="2922971"/>
          </a:xfrm>
          <a:prstGeom prst="roundRect">
            <a:avLst>
              <a:gd name="adj" fmla="val 37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7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2077243"/>
            <a:ext cx="3346704" cy="270351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11396" y="5309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VNPay Sandbox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74152" y="1658096"/>
            <a:ext cx="3566160" cy="3541808"/>
          </a:xfrm>
          <a:prstGeom prst="roundRect">
            <a:avLst>
              <a:gd name="adj" fmla="val 3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/home/claude/img/8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767824"/>
            <a:ext cx="3346704" cy="332235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74152" y="5309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Thanh toán thành công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Đơn hàng và bảo hành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8062"/>
            <a:ext cx="5440680" cy="2821876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8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27790"/>
            <a:ext cx="5221224" cy="26024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382804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hàng của khách hàng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9632" y="1584924"/>
            <a:ext cx="5440680" cy="3688152"/>
          </a:xfrm>
          <a:prstGeom prst="roundRect">
            <a:avLst>
              <a:gd name="adj" fmla="val 29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8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4652"/>
            <a:ext cx="5221224" cy="34686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5382804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hành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Trang quản trị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24169"/>
            <a:ext cx="5440680" cy="2809662"/>
          </a:xfrm>
          <a:prstGeom prst="roundRect">
            <a:avLst>
              <a:gd name="adj" fmla="val 3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8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33897"/>
            <a:ext cx="5221224" cy="25902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953081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9632" y="2014647"/>
            <a:ext cx="5440680" cy="2828706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8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24375"/>
            <a:ext cx="5221224" cy="26092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4953081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sản phẩm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Quản trị khuyến mãi và đổi trả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24169"/>
            <a:ext cx="5440680" cy="2809662"/>
          </a:xfrm>
          <a:prstGeom prst="roundRect">
            <a:avLst>
              <a:gd name="adj" fmla="val 3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/9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33897"/>
            <a:ext cx="5221224" cy="25902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944919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voucher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9632" y="2022809"/>
            <a:ext cx="5440680" cy="2812383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img/9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32537"/>
            <a:ext cx="5221224" cy="25929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99632" y="4944919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đổi/trả hàng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hệ thống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JUnit 5 + Mockito · Postman · JMeter · Chrome / Firefox / Edge</a:t>
            </a:r>
            <a:endParaRPr lang="en-US" sz="15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91440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 kiểm thử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TC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Testing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Testing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Testing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Testing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6035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438912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78992" y="4270248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 – luồng end-to-end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82312"/>
            <a:ext cx="5669280" cy="12344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hàng: </a:t>
            </a:r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+ OrderItem tạo đúng, giỏ hàng được xóa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VNPay sandbox: </a:t>
            </a:r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IPN cập nhật đúng trạng thái thanh toán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JWT: </a:t>
            </a:r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hợp lệ → 200; sai/hết hạn → 401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12280" y="1417320"/>
            <a:ext cx="4828032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04088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Testing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901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/api/products · 100 người dùng đồng thời · ramp-up 10s · lặp 10 lần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400ms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TB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Requests/s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96696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96696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12280" y="4160520"/>
            <a:ext cx="4828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40880" y="438912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42632" y="4270248"/>
            <a:ext cx="4142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System Testing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4782312"/>
            <a:ext cx="4462272" cy="12344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JWT, SQL Injection, XSS, HTTPS – đều Pass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Responsive: Desktop, Tablet, Mobile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Cross-browser: Chrome, Firefox, Edge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6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quả, hạn chế, định hướng tương lai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63840" y="12344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1234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mở đầu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196596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hệ thống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269748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697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hệ thống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0" y="342900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34290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hệ thống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416052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41605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và kiểm thử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48920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48920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đạt được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9824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201168" cy="2011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1435608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Về mặt chức năng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47672"/>
            <a:ext cx="5084064" cy="15361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TMĐT đầy đủ chức năng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module: sản phẩm, đơn hàng, khách hàng, thanh toán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thành công VNPay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quản trị với dashboard, báo cáo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0488" y="1325880"/>
            <a:ext cx="5449824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155448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1435608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Về mặt kỹ thuật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1947672"/>
            <a:ext cx="5084064" cy="15361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Layered Architecture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ReactJS, Spring Boot, PostgreSQL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CSDL chuẩn hóa, 52 bảng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JWT, Spring Security, mã hóa mật khẩu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76472"/>
            <a:ext cx="5449824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005072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8992" y="3886200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Về mặt nghiệp vụ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398264"/>
            <a:ext cx="5084064" cy="15361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ứng nhu cầu thực tế cửa hàng máy tính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mua hàng đơn giản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nhiều phương thức thanh toán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hỗ trợ quản lý bán hàng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0488" y="3776472"/>
            <a:ext cx="5449824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4005072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3886200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Về mặt học tập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73368" y="4398264"/>
            <a:ext cx="5084064" cy="15361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dụng kiến thức vào thực tế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Rèn luyện kỹ năng làm việc nhóm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cao kỹ năng lập trình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Hiểu quy trình phát triển phần mềm A–Z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của đề tài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hạn bởi thời gian 14 tuần, nguồn lực 3 thành viên và chi phí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33472" cy="46634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1572768"/>
            <a:ext cx="1947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84832"/>
            <a:ext cx="2267712" cy="3931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livestream, AI chatbot, loyalty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so sánh sản phẩm chi tiết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gợi ý sản phẩm bằng AI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hỗ trợ tiếng Việt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64992" y="1463040"/>
            <a:ext cx="2633472" cy="46634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169164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95344" y="1572768"/>
            <a:ext cx="1947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084832"/>
            <a:ext cx="2267712" cy="3931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monolithic, 1 database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Redis cache, message queue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ảnh local, chưa dùng CDN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WebSocket, mobile app, 2FA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633472" cy="46634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9944" y="1691640"/>
            <a:ext cx="201168" cy="2011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11696" y="1572768"/>
            <a:ext cx="1947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084832"/>
            <a:ext cx="2267712" cy="3931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VNPay (chưa MoMo, ZaloPay)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SMS OTP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tracking vận chuyển (GHN, GHTK)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chỉ hỗ trợ Google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97696" y="1463040"/>
            <a:ext cx="2633472" cy="46634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26296" y="1691640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28048" y="1572768"/>
            <a:ext cx="1947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Nghiệp vụ, dữ liệu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2084832"/>
            <a:ext cx="2267712" cy="3931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vendor, chỉ trong Việt Nam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tích hợp ERP / CRM / BI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data warehouse, ETL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và logging cơ bản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Máy Tính Trực Tuyến Kinh Duan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801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Ngắn hạn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cốt lõi &amp; trải nghiệm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2560320"/>
            <a:ext cx="3246120" cy="34747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Build PC: nhiều cấu hình, chia sẻ link, so sánh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hóa đổi/trả, theo dõi trả góp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ảnh lên Cloud Storage + CDN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OTP, xác thực 2 lớp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2801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hạn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tương tác, mở rộng kênh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97680" y="23774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34840" y="2560320"/>
            <a:ext cx="3246120" cy="34747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 (Dialogflow / Rasa)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 real-time: WebSocket, FCM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(React Native / Flutter)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Loyalty; tích hợp MoMo, ZaloPay, PayPal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2801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Dài hạn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đổi số toàn diện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23774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183880" y="2560320"/>
            <a:ext cx="3246120" cy="34747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Livestream bán hàng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 ngôn ngữ, đa tiền tệ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gợi ý sản phẩm cá nhân hóa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Affiliate, Big Data &amp; BI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822960"/>
            <a:ext cx="1097280" cy="13217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14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CHÂN THÀNH CẢM ƠN!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474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Kính mong nhận được góp ý của Hội đồng và Quý thầy cô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632808" y="4389120"/>
            <a:ext cx="2926080" cy="685800"/>
          </a:xfrm>
          <a:prstGeom prst="roundRect">
            <a:avLst>
              <a:gd name="adj" fmla="val 16000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32808" y="4389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&amp; ĐÁP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Minh Sáng  ·  Nguyễn Quang Dũng  ·  Phạm Thị Trang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Bán Máy Tính Trực Tuyến Kinh Duan</dc:title>
  <dc:subject>PptxGenJS Presentation</dc:subject>
  <dc:creator>PptxGenJS</dc:creator>
  <cp:lastModifiedBy>PptxGenJS</cp:lastModifiedBy>
  <cp:revision>1</cp:revision>
  <dcterms:created xsi:type="dcterms:W3CDTF">2026-09-15T16:00:22Z</dcterms:created>
  <dcterms:modified xsi:type="dcterms:W3CDTF">2026-09-15T16:00:22Z</dcterms:modified>
</cp:coreProperties>
</file>